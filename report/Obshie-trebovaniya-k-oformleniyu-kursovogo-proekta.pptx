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Patrick Hand" panose="00000500000000000000" pitchFamily="34" charset="0"/>
      <p:regular r:id="rId17"/>
    </p:embeddedFont>
    <p:embeddedFont>
      <p:font typeface="Patrick Hand" panose="00000500000000000000" pitchFamily="34" charset="-122"/>
      <p:regular r:id="rId18"/>
    </p:embeddedFont>
    <p:embeddedFont>
      <p:font typeface="Patrick Hand" panose="00000500000000000000" pitchFamily="34" charset="-120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892862"/>
            <a:ext cx="7415927" cy="18513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Общие требования к оформлению курсового проекта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4037" y="4842867"/>
            <a:ext cx="3950137" cy="4937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ПК МУКР</a:t>
            </a:r>
            <a:endParaRPr lang="en-US" sz="3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523637"/>
            <a:ext cx="6654879" cy="3781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Структура работы и технические требования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784979" y="1374458"/>
            <a:ext cx="1890713" cy="236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1. Структура работы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84979" y="1799868"/>
            <a:ext cx="49472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Работа должна содержать (в порядке):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4979" y="2272427"/>
            <a:ext cx="49472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Титульный лист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84979" y="2640925"/>
            <a:ext cx="49472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Аннотация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4979" y="3009424"/>
            <a:ext cx="49472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Содержание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4979" y="3377922"/>
            <a:ext cx="49472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Введение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4979" y="3746421"/>
            <a:ext cx="49472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Основная часть (главы)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84979" y="4114919"/>
            <a:ext cx="49472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6"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Заключение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4979" y="4483418"/>
            <a:ext cx="49472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7"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Список использованных источников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84979" y="4851916"/>
            <a:ext cx="49472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8"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Приложения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84979" y="5324475"/>
            <a:ext cx="4947285" cy="6048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Каждая структурная часть начинается с новой страницы.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01132" y="1374458"/>
            <a:ext cx="4526637" cy="236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2. Технические требования к оформлению текста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01132" y="1799868"/>
            <a:ext cx="7651671" cy="6048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Бумага:</a:t>
            </a: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 формат A4 (210×297 мм), печать — на одной стороне листа, белая односортная бумага.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01132" y="2470785"/>
            <a:ext cx="7651671" cy="6048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Редактор:</a:t>
            </a: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 MS Word (по возможности использовать встроенные стили и нумерацию).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01132" y="3141702"/>
            <a:ext cx="7651671" cy="6048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Шрифт:</a:t>
            </a: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 Times New Roman, размер 12 pt, межстрочный интервал 1,5, выравнивание — по ширине.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01132" y="3812619"/>
            <a:ext cx="7651671" cy="6048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Поля:</a:t>
            </a: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 левое — 30 мм, правое — 15 мм, верхнее — 15 мм, нижнее — 20 мм. Расстояние от края до колонтитула — 10 мм.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01132" y="4483537"/>
            <a:ext cx="7651671" cy="1209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Колонтитулы:</a:t>
            </a: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 на каждой странице (кроме титульного) — вверху по центру указывается номер страницы, внизу — фамилия и инициалы автора(ов) и номер группы. При смене ориентации страницы положение колонтитулов не меняют.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01132" y="5759291"/>
            <a:ext cx="7651671" cy="907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Шрифт печати</a:t>
            </a: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 — четкий, одинаковая плотность текста. Ручные вписывания (слова, формулы) допускаются только чёрными чернилами; плотность вписанного текста должна соответствовать основному.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01132" y="6732627"/>
            <a:ext cx="7651671" cy="907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Исправления ошибок</a:t>
            </a:r>
            <a:r>
              <a:rPr lang="en-US" sz="14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 — подчисткой или закрашиванием белой краской и нанесением исправленного текста печатным или рукописным способом чёрными чернилами.</a:t>
            </a:r>
            <a:endParaRPr lang="en-US" sz="1450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12642573" y="7624762"/>
            <a:ext cx="1878496" cy="589717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961" y="1110615"/>
            <a:ext cx="5822871" cy="473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Нумерация страниц и разделов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827961" y="2175034"/>
            <a:ext cx="4165997" cy="2956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3. Нумерация страниц и материалов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27961" y="2707243"/>
            <a:ext cx="6198632" cy="1892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Сквозная нумерация страниц по всей работе (включая титульный лист и приложения). Титульный лист считается первой страницей, но номер на нём не проставляют. Номера страниц — в верхнем колонтитуле по центру, без точки.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27961" y="4682490"/>
            <a:ext cx="6198632" cy="15139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Иллюстрации, таблицы и распечатки на отдельных листах включаются в общую нумерацию; листы формата A3 считаются за одну страницу.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27961" y="6279237"/>
            <a:ext cx="6198632" cy="7569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На отдельном листе (альбомной ориентации) колонтитулы не меняют положение.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11428" y="2175034"/>
            <a:ext cx="4381024" cy="2956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4. Нумерация разделов и подразделов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1428" y="2707243"/>
            <a:ext cx="6198632" cy="378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Нумерация — арабскими цифрами (без знака №).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1428" y="3168491"/>
            <a:ext cx="6198632" cy="378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Разделы основной части нумеруются 1., 2., 3. и т.д.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1428" y="3629739"/>
            <a:ext cx="6198632" cy="7569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Пункты и подпункты нумеруются по иерархии: например, 1.1., 1.1.1., 1.1.1.1. и т.д.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1428" y="4469487"/>
            <a:ext cx="6198632" cy="11354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Оглавление, перечень условных обозначений, введение, выводы и список литературы не нумеруются.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11428" y="5687735"/>
            <a:ext cx="6198632" cy="11354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Если раздел содержит единственный пункт (или пункт — единственный подпункт), нумерование пунктов/подпунктов не выполняют.</a:t>
            </a:r>
            <a:endParaRPr lang="en-US" sz="18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642573" y="7624762"/>
            <a:ext cx="1878496" cy="589717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96365"/>
            <a:ext cx="3950137" cy="4937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5. Заголовки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64037" y="2383869"/>
            <a:ext cx="4136231" cy="3381613"/>
          </a:xfrm>
          <a:prstGeom prst="roundRect">
            <a:avLst>
              <a:gd name="adj" fmla="val 4326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557" y="2383869"/>
            <a:ext cx="121920" cy="3381613"/>
          </a:xfrm>
          <a:prstGeom prst="roundRect">
            <a:avLst>
              <a:gd name="adj" fmla="val 85050"/>
            </a:avLst>
          </a:prstGeom>
          <a:solidFill>
            <a:srgbClr val="CCCCCC"/>
          </a:solidFill>
        </p:spPr>
      </p:sp>
      <p:sp>
        <p:nvSpPr>
          <p:cNvPr id="5" name="Text 3"/>
          <p:cNvSpPr/>
          <p:nvPr/>
        </p:nvSpPr>
        <p:spPr>
          <a:xfrm>
            <a:off x="1232773" y="2661166"/>
            <a:ext cx="3224927" cy="308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Заголовки разделов и глав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32773" y="3117890"/>
            <a:ext cx="3490198" cy="1185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Печатаются прописными буквами, симметрично тексту.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47084" y="2383869"/>
            <a:ext cx="4136231" cy="3381613"/>
          </a:xfrm>
          <a:prstGeom prst="roundRect">
            <a:avLst>
              <a:gd name="adj" fmla="val 4326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6604" y="2383869"/>
            <a:ext cx="121920" cy="3381613"/>
          </a:xfrm>
          <a:prstGeom prst="roundRect">
            <a:avLst>
              <a:gd name="adj" fmla="val 85050"/>
            </a:avLst>
          </a:prstGeom>
          <a:solidFill>
            <a:srgbClr val="CCCCCC"/>
          </a:solidFill>
        </p:spPr>
      </p:sp>
      <p:sp>
        <p:nvSpPr>
          <p:cNvPr id="9" name="Text 7"/>
          <p:cNvSpPr/>
          <p:nvPr/>
        </p:nvSpPr>
        <p:spPr>
          <a:xfrm>
            <a:off x="5615821" y="2661166"/>
            <a:ext cx="2871311" cy="308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Заголовки подразделов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15821" y="3117890"/>
            <a:ext cx="3490198" cy="2370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Строчными буквами (с прописной первой буквой), с абзацного отступа и выделением жирным; точка в конце заголовка не ставится.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30132" y="2383869"/>
            <a:ext cx="4136231" cy="3381613"/>
          </a:xfrm>
          <a:prstGeom prst="roundRect">
            <a:avLst>
              <a:gd name="adj" fmla="val 4326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9652" y="2383869"/>
            <a:ext cx="121920" cy="3381613"/>
          </a:xfrm>
          <a:prstGeom prst="roundRect">
            <a:avLst>
              <a:gd name="adj" fmla="val 85050"/>
            </a:avLst>
          </a:prstGeom>
          <a:solidFill>
            <a:srgbClr val="CCCCCC"/>
          </a:solidFill>
        </p:spPr>
      </p:sp>
      <p:sp>
        <p:nvSpPr>
          <p:cNvPr id="13" name="Text 11"/>
          <p:cNvSpPr/>
          <p:nvPr/>
        </p:nvSpPr>
        <p:spPr>
          <a:xfrm>
            <a:off x="9998869" y="2661166"/>
            <a:ext cx="2468880" cy="308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Заголовки пунктов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998869" y="3117890"/>
            <a:ext cx="3490198" cy="19752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Строчными буквами (с прописной первой буквой) в разрядку; точка в конце заголовка, напечатанного в подбор к тексту, ставится.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4037" y="6043136"/>
            <a:ext cx="12902327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Переносы слов в заголовках запрещены. Расстояние между заголовком (кроме заголовка пункта) и текстом — не менее одной свободной строки.</a:t>
            </a:r>
            <a:endParaRPr lang="en-US" sz="1900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12642573" y="7624762"/>
            <a:ext cx="1878496" cy="589717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374690"/>
            <a:ext cx="2814518" cy="2724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6. Иллюстрации и таблицы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84979" y="987623"/>
            <a:ext cx="1362670" cy="1703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Иллюстрации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84979" y="1294209"/>
            <a:ext cx="6363891" cy="436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Размещают сразу после первого упоминания в тексте или на следующей странице; на все иллюстрации должны быть ссылки в тексте («(рис. 3)», «… как видно на рис. 3» и т.д.).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4979" y="1778079"/>
            <a:ext cx="6363891" cy="654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Нумеруются в пределах всей работы: «Рис. N. Название». Подрисуночные подписи и пояснения — под иллюстрацией. Если в работе одна иллюстрация, её не нумеруют и слово «Рис.» не пишут.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597" y="2698194"/>
            <a:ext cx="5301910" cy="53019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88912" y="987623"/>
            <a:ext cx="1362670" cy="1703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Таблицы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88912" y="1294209"/>
            <a:ext cx="6363891" cy="654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Оформляют так, чтобы их можно было читать без поворота работы (или с поворотом по часовой стрелке). Нумеруются арабскими цифрами по всей работе; над таблицей справа указывают «Таблица N». Заголовок таблицы помещают над таблицей, симметрично тексту.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88912" y="1996202"/>
            <a:ext cx="6363891" cy="654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При переносе таблицы на другую страницу заголовок помещают только над первой частью, а над последующими частями пишут «Продолжение табл. N». При длинных таблицах повторяют шапку на каждой новом листе.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88912" y="2698194"/>
            <a:ext cx="6363891" cy="436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Для повторяющегося текста в графах применяются правила замены («То же», кавычки и т.д.). В таблице допускается шрифт менее 12 pt и одинарный межстрочный интервал.</a:t>
            </a:r>
            <a:endParaRPr lang="en-US" sz="11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2642573" y="7624762"/>
            <a:ext cx="1878496" cy="589717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669846"/>
            <a:ext cx="5585817" cy="4181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Формулы, ссылки и библиография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84979" y="1819751"/>
            <a:ext cx="6425565" cy="5739884"/>
          </a:xfrm>
          <a:prstGeom prst="roundRect">
            <a:avLst>
              <a:gd name="adj" fmla="val 1912"/>
            </a:avLst>
          </a:prstGeom>
          <a:solidFill>
            <a:srgbClr val="F7F7F7"/>
          </a:solidFill>
        </p:spPr>
      </p:sp>
      <p:sp>
        <p:nvSpPr>
          <p:cNvPr id="4" name="Shape 2"/>
          <p:cNvSpPr/>
          <p:nvPr/>
        </p:nvSpPr>
        <p:spPr>
          <a:xfrm>
            <a:off x="784979" y="1796891"/>
            <a:ext cx="6425565" cy="91440"/>
          </a:xfrm>
          <a:prstGeom prst="roundRect">
            <a:avLst>
              <a:gd name="adj" fmla="val 96037"/>
            </a:avLst>
          </a:prstGeom>
          <a:solidFill>
            <a:srgbClr val="CCCCCC"/>
          </a:solidFill>
        </p:spPr>
      </p:sp>
      <p:sp>
        <p:nvSpPr>
          <p:cNvPr id="5" name="Shape 3"/>
          <p:cNvSpPr/>
          <p:nvPr/>
        </p:nvSpPr>
        <p:spPr>
          <a:xfrm>
            <a:off x="3684151" y="1506141"/>
            <a:ext cx="627221" cy="627221"/>
          </a:xfrm>
          <a:prstGeom prst="roundRect">
            <a:avLst>
              <a:gd name="adj" fmla="val 145786"/>
            </a:avLst>
          </a:prstGeom>
          <a:solidFill>
            <a:srgbClr val="CCCCCC"/>
          </a:solidFill>
        </p:spPr>
      </p:sp>
      <p:sp>
        <p:nvSpPr>
          <p:cNvPr id="6" name="Text 4"/>
          <p:cNvSpPr/>
          <p:nvPr/>
        </p:nvSpPr>
        <p:spPr>
          <a:xfrm>
            <a:off x="3872270" y="1662946"/>
            <a:ext cx="250865" cy="3136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6913" y="2342436"/>
            <a:ext cx="2482215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7. Формулы и уравнения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913" y="2729151"/>
            <a:ext cx="5961698" cy="1003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Формулы выделяют строкой, над и под формулой — минимум одна свободная строка. Если формула не умещается — переносят после знака «=», «+», «−», «×», «:».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913" y="3857863"/>
            <a:ext cx="5961698" cy="13377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Формулы нумеруются в пределах всей работы (номер в круглых скобках у правого поля, напр.: (3)). Если формула не требует дальнейшей ссылки — её можно не нумеровать.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913" y="5321022"/>
            <a:ext cx="5961698" cy="1003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Пояснение символов и коэффициентов даётся под формулой, каждое с новой строки, в той же последовательности, что и в формуле.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19618" y="1819751"/>
            <a:ext cx="6425684" cy="5739884"/>
          </a:xfrm>
          <a:prstGeom prst="roundRect">
            <a:avLst>
              <a:gd name="adj" fmla="val 1912"/>
            </a:avLst>
          </a:prstGeom>
          <a:solidFill>
            <a:srgbClr val="F7F7F7"/>
          </a:solidFill>
        </p:spPr>
      </p:sp>
      <p:sp>
        <p:nvSpPr>
          <p:cNvPr id="12" name="Shape 10"/>
          <p:cNvSpPr/>
          <p:nvPr/>
        </p:nvSpPr>
        <p:spPr>
          <a:xfrm>
            <a:off x="7419618" y="1796891"/>
            <a:ext cx="6425684" cy="91440"/>
          </a:xfrm>
          <a:prstGeom prst="roundRect">
            <a:avLst>
              <a:gd name="adj" fmla="val 96037"/>
            </a:avLst>
          </a:prstGeom>
          <a:solidFill>
            <a:srgbClr val="CCCCCC"/>
          </a:solidFill>
        </p:spPr>
      </p:sp>
      <p:sp>
        <p:nvSpPr>
          <p:cNvPr id="13" name="Shape 11"/>
          <p:cNvSpPr/>
          <p:nvPr/>
        </p:nvSpPr>
        <p:spPr>
          <a:xfrm>
            <a:off x="10318790" y="1506141"/>
            <a:ext cx="627221" cy="627221"/>
          </a:xfrm>
          <a:prstGeom prst="roundRect">
            <a:avLst>
              <a:gd name="adj" fmla="val 145786"/>
            </a:avLst>
          </a:prstGeom>
          <a:solidFill>
            <a:srgbClr val="CCCCCC"/>
          </a:solidFill>
        </p:spPr>
      </p:sp>
      <p:sp>
        <p:nvSpPr>
          <p:cNvPr id="14" name="Text 12"/>
          <p:cNvSpPr/>
          <p:nvPr/>
        </p:nvSpPr>
        <p:spPr>
          <a:xfrm>
            <a:off x="10506908" y="1662946"/>
            <a:ext cx="250865" cy="3136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51552" y="2342436"/>
            <a:ext cx="2656403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8. Ссылки и библиография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51552" y="2729151"/>
            <a:ext cx="5961817" cy="1003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Ссылки в тексте указывают порядковым номером по списку литературы, выделенным в квадратных скобках, например [1].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51552" y="3857863"/>
            <a:ext cx="5961817" cy="16722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Ссылки на разделы, иллюстрации, формулы и т.д. дают по номерам: «в разд. 4», «по формуле (3)», «на рис. 8», «в приложении Б». Если в работе одна иллюстрация/таблица/формула/приложение — писать «в таблице», «по формуле» и т.д.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51552" y="5655469"/>
            <a:ext cx="5961817" cy="16722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Список литературы оформляют: по порядку появления ссылок, или в алфавитном/хронологическом порядке. Оформление записей — согласно требованиям (ГОСТ Р 7.0.100-2018 или стандарт колледжа). При использовании интернет-источников указывается полный URL.</a:t>
            </a:r>
            <a:endParaRPr lang="en-US" sz="160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2642573" y="7624762"/>
            <a:ext cx="1878496" cy="589717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4512" y="672346"/>
            <a:ext cx="3906798" cy="488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9. Приложения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854512" y="1526858"/>
            <a:ext cx="7434977" cy="15625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Каждое приложение начинается с новой страницы; заголовок приложения печатают прописными буквами. В правом верхнем углу над заголовком указывают «ПРИЛОЖЕНИЕ».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54512" y="3174802"/>
            <a:ext cx="7434977" cy="195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Приложения нумеруются арабскими цифрами, их содержание можно структурировать и нумеровать в пределах приложения. Иллюстрации, таблицы и формулы в приложениях нумеруются отдельно в пределах каждого приложения.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54512" y="5213390"/>
            <a:ext cx="7434977" cy="2343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Если приложение представляет собой документ со самостоятельным значением, его вкладывают в оригинале; на титульном листе вставляемого документа в правом верхнем углу печатают «ПРИЛОЖЕНИЕ» и его номер. Страницы такого документа включаются в общую нумерацию работы.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6773" y="671751"/>
            <a:ext cx="8627269" cy="4839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10. Требования к содержанию основной части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6773" y="1639610"/>
            <a:ext cx="12936855" cy="774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Основная часть — 60–70 % объёма работы; обычно 2–3 главы, каждая с введением, основной частью и краткими выводами.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46773" y="2685931"/>
            <a:ext cx="12936855" cy="2797373"/>
          </a:xfrm>
          <a:prstGeom prst="roundRect">
            <a:avLst>
              <a:gd name="adj" fmla="val 3633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393" y="2693551"/>
            <a:ext cx="4307205" cy="2782133"/>
          </a:xfrm>
          <a:prstGeom prst="roundRect">
            <a:avLst>
              <a:gd name="adj" fmla="val 3653"/>
            </a:avLst>
          </a:prstGeom>
          <a:solidFill>
            <a:srgbClr val="E6E6E6"/>
          </a:solidFill>
        </p:spPr>
      </p:sp>
      <p:sp>
        <p:nvSpPr>
          <p:cNvPr id="6" name="Text 4"/>
          <p:cNvSpPr/>
          <p:nvPr/>
        </p:nvSpPr>
        <p:spPr>
          <a:xfrm>
            <a:off x="1096328" y="2935486"/>
            <a:ext cx="2742843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Глава 1: Теория и обзор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6328" y="3383042"/>
            <a:ext cx="3823335" cy="11612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Теоретические основы и аналитический обзор (10–20 % объёма).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161598" y="2693551"/>
            <a:ext cx="4307205" cy="2782133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9" name="Shape 7"/>
          <p:cNvSpPr/>
          <p:nvPr/>
        </p:nvSpPr>
        <p:spPr>
          <a:xfrm>
            <a:off x="5161598" y="2693551"/>
            <a:ext cx="30480" cy="2782133"/>
          </a:xfrm>
          <a:prstGeom prst="roundRect">
            <a:avLst>
              <a:gd name="adj" fmla="val 333408"/>
            </a:avLst>
          </a:prstGeom>
          <a:solidFill>
            <a:srgbClr val="CCCCCC"/>
          </a:solidFill>
        </p:spPr>
      </p:sp>
      <p:sp>
        <p:nvSpPr>
          <p:cNvPr id="10" name="Text 8"/>
          <p:cNvSpPr/>
          <p:nvPr/>
        </p:nvSpPr>
        <p:spPr>
          <a:xfrm>
            <a:off x="5403533" y="2935486"/>
            <a:ext cx="3823335" cy="6048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Глава 2: Инструментарий и методы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03533" y="3685461"/>
            <a:ext cx="3823335" cy="11612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Обоснование выбора технологий, архитектуры, методы тестирования (≈15–20 %).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468802" y="2693551"/>
            <a:ext cx="4307205" cy="2782133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13" name="Shape 11"/>
          <p:cNvSpPr/>
          <p:nvPr/>
        </p:nvSpPr>
        <p:spPr>
          <a:xfrm>
            <a:off x="9468802" y="2693551"/>
            <a:ext cx="30480" cy="2782133"/>
          </a:xfrm>
          <a:prstGeom prst="roundRect">
            <a:avLst>
              <a:gd name="adj" fmla="val 333408"/>
            </a:avLst>
          </a:prstGeom>
          <a:solidFill>
            <a:srgbClr val="CCCCCC"/>
          </a:solidFill>
        </p:spPr>
      </p:sp>
      <p:sp>
        <p:nvSpPr>
          <p:cNvPr id="14" name="Text 12"/>
          <p:cNvSpPr/>
          <p:nvPr/>
        </p:nvSpPr>
        <p:spPr>
          <a:xfrm>
            <a:off x="9710738" y="2935486"/>
            <a:ext cx="3823335" cy="6048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Глава 3: Практическая реализация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710738" y="3685461"/>
            <a:ext cx="3823335" cy="15482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Практическая реализация, тестирование и результаты (≈30–40 %, подробные примеры и скриншоты).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46773" y="5755481"/>
            <a:ext cx="12936855" cy="1802249"/>
          </a:xfrm>
          <a:prstGeom prst="roundRect">
            <a:avLst>
              <a:gd name="adj" fmla="val 5639"/>
            </a:avLst>
          </a:prstGeom>
          <a:solidFill>
            <a:srgbClr val="D9D9D9"/>
          </a:solidFill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708" y="6120527"/>
            <a:ext cx="302419" cy="24193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33061" y="6057900"/>
            <a:ext cx="11908631" cy="11612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В конце каждой главы — 5–7 предложений выводов. Язык — научно-деловой, без личных местоимений; формулировки — в безличной форме («было разработано», «проведено исследование»).</a:t>
            </a:r>
            <a:endParaRPr lang="en-US" sz="190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2642573" y="7624762"/>
            <a:ext cx="1878496" cy="589717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57369"/>
            <a:ext cx="6953726" cy="4937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11. Объём, оригинальность и подача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64037" y="184487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66280" y="1929646"/>
            <a:ext cx="2468880" cy="308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Объём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66280" y="2386370"/>
            <a:ext cx="5494615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Объём пояснительной записки: 30–50 страниц (без приложений).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69505" y="184487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71748" y="1929646"/>
            <a:ext cx="2468880" cy="308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Оформление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71748" y="2386370"/>
            <a:ext cx="5494615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Оформление по стандарту колледжа (ГОСТ, APA, IEEE и др.).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4037" y="367022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6280" y="3754993"/>
            <a:ext cx="2468880" cy="308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Уникальность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66280" y="4211717"/>
            <a:ext cx="5494615" cy="1185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Уникальность текста: не менее 70 % (проверка в Antiplagiat, eTXT). Цитирование допускается с указанием источника.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69505" y="367022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1748" y="3754993"/>
            <a:ext cx="2468880" cy="308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Подача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71748" y="4211717"/>
            <a:ext cx="5494615" cy="3160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По защите: подготовить презентацию 8–10 слайдов. Исходные файлы моделирования/программ обязателен, если проект их содержит. Проектный материал прилагают на носителе (CD/DVD) и на защите предоставляют переплётную версию по стандарту (белый цвет обложки; точные требования демонстрирует преподаватель).</a:t>
            </a:r>
            <a:endParaRPr lang="en-US" sz="19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2642573" y="7624762"/>
            <a:ext cx="1878496" cy="589717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488633"/>
            <a:ext cx="4136469" cy="3554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12. Критерии оценки (пример)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64983" y="7836177"/>
            <a:ext cx="13060323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atrick Hand" panose="00000500000000000000" pitchFamily="34" charset="0"/>
                <a:ea typeface="Patrick Hand" panose="00000500000000000000" pitchFamily="34" charset="-122"/>
                <a:cs typeface="Patrick Hand" panose="00000500000000000000" pitchFamily="34" charset="-120"/>
              </a:rPr>
              <a:t>Минимум для прохождения: 61/100.</a:t>
            </a:r>
            <a:endParaRPr 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642573" y="7624762"/>
            <a:ext cx="1878496" cy="589717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980" y="1199437"/>
            <a:ext cx="11857594" cy="66402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6744</Words>
  <Application>WPS Presentation</Application>
  <PresentationFormat>Произвольный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Patrick Hand</vt:lpstr>
      <vt:lpstr>Patrick Hand</vt:lpstr>
      <vt:lpstr>Patrick Hand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Alkazar</dc:creator>
  <cp:lastModifiedBy>VA</cp:lastModifiedBy>
  <cp:revision>3</cp:revision>
  <dcterms:created xsi:type="dcterms:W3CDTF">2025-10-28T10:26:00Z</dcterms:created>
  <dcterms:modified xsi:type="dcterms:W3CDTF">2025-11-26T16:11:45Z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DE002104101D4CE6A11804279D9B707B_12</vt:lpwstr>
  </property>
  <property fmtid="{D5CDD505-2E9C-101B-9397-08002B2CF9AE}" pid="3" name="KSOProductBuildVer">
    <vt:lpwstr>1049-12.2.0.23155</vt:lpwstr>
  </property>
</Properties>
</file>